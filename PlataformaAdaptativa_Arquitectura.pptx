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DC6B2B-F510-E708-C2DA-1A38AB3B3D97}" v="635" dt="2026-03-26T14:39:38.8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CCADC-75D2-4BEF-A891-759B170C0A45}" type="datetimeFigureOut">
              <a:t>26/03/2026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35BD01-8A69-4E59-A7C8-41A766D390C6}" type="slidenum"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5433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8915400" cy="54864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560320" cy="25603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182880"/>
            <a:ext cx="1645920" cy="1645920"/>
          </a:xfrm>
          <a:prstGeom prst="ellipse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0" y="3657600"/>
            <a:ext cx="2286000" cy="2286000"/>
          </a:xfrm>
          <a:prstGeom prst="ellipse">
            <a:avLst/>
          </a:prstGeom>
          <a:solidFill>
            <a:srgbClr val="1A2F5E">
              <a:alpha val="60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77240"/>
            <a:ext cx="237744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77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3E"/>
                </a:solidFill>
              </a:rPr>
              <a:t>ARQUITECTURA DE SOFTWARE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Aprendizaje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17373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Adaptativo y Colaborativo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457200" y="2640114"/>
            <a:ext cx="4114800" cy="27432"/>
          </a:xfrm>
          <a:prstGeom prst="rect">
            <a:avLst/>
          </a:prstGeom>
          <a:solidFill>
            <a:srgbClr val="CBD5E1">
              <a:alpha val="50000"/>
            </a:srgbClr>
          </a:solidFill>
          <a:ln w="12700">
            <a:solidFill>
              <a:srgbClr val="CBD5E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2004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Pontificia Universidad Javeriana  ·  </a:t>
            </a:r>
            <a:r>
              <a:rPr lang="en-US" sz="1100" b="1" dirty="0">
                <a:solidFill>
                  <a:srgbClr val="00C9A7"/>
                </a:solidFill>
              </a:rPr>
              <a:t>Marzo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Core del Negocio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62763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Problema, usuarios y propuesta de valor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41148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8600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Por qué la Arquitectura importa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7249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El plus que la arquitectura aporta al negocio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83280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383280"/>
            <a:ext cx="41148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383280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3474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Decisión Arquitectural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82219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Service-Based Architecture y justificación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3188" y="1717088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3188" y="1717088"/>
            <a:ext cx="41148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3188" y="1717088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C9A7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06108" y="18085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Componentes Lógicos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6108" y="21560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5 servicios, API Gateway, mensajería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3188" y="2833346"/>
            <a:ext cx="411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3188" y="2833346"/>
            <a:ext cx="41148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3188" y="2833346"/>
            <a:ext cx="411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C9A7"/>
                </a:solidFill>
              </a:rPr>
              <a:t>05</a:t>
            </a:r>
          </a:p>
        </p:txBody>
      </p:sp>
      <p:sp>
        <p:nvSpPr>
          <p:cNvPr id="33" name="Text 31"/>
          <p:cNvSpPr/>
          <p:nvPr/>
        </p:nvSpPr>
        <p:spPr>
          <a:xfrm>
            <a:off x="5306108" y="292478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Vistas 4+1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06108" y="327225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4748B"/>
                </a:solidFill>
              </a:rPr>
              <a:t>Lógica</a:t>
            </a:r>
            <a:r>
              <a:rPr lang="en-US" sz="1000" dirty="0">
                <a:solidFill>
                  <a:srgbClr val="64748B"/>
                </a:solidFill>
              </a:rPr>
              <a:t>, Desarrollo, </a:t>
            </a:r>
            <a:r>
              <a:rPr lang="en-US" sz="1000" dirty="0" err="1">
                <a:solidFill>
                  <a:srgbClr val="64748B"/>
                </a:solidFill>
              </a:rPr>
              <a:t>Procesos</a:t>
            </a:r>
            <a:r>
              <a:rPr lang="en-US" sz="1000" dirty="0">
                <a:solidFill>
                  <a:srgbClr val="64748B"/>
                </a:solidFill>
              </a:rPr>
              <a:t>, </a:t>
            </a:r>
            <a:r>
              <a:rPr lang="en-US" sz="1000" dirty="0" err="1">
                <a:solidFill>
                  <a:srgbClr val="64748B"/>
                </a:solidFill>
              </a:rPr>
              <a:t>Física</a:t>
            </a:r>
            <a:endParaRPr lang="en-US" sz="1000" dirty="0" err="1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DEL NEGOCIO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070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A7"/>
                </a:solidFill>
              </a:rPr>
              <a:t>El Problema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Las plataformas educativas actuales ofrecen el mismo contenido para todos los estudiantes y priorizan el aprendizaje individual, ignorando que cada estudiante aprende a ritmo distinto y que la colaboración entre pares mejora significativamente la comprensión.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240280"/>
            <a:ext cx="2651760" cy="3840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Estudiante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Accede a contenidos, realiza evaluaciones, sigue su progreso adaptado a su ritmo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24028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240280"/>
            <a:ext cx="265176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Docente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7432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Diseña cursos, publica materiales, define evaluaciones y monitorea el grupo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240280"/>
            <a:ext cx="26517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240280"/>
            <a:ext cx="2651760" cy="3840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240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Administrador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Gestiona usuarios, configura la plataforma y supervisa el uso del sistema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F5E"/>
                </a:solidFill>
              </a:rPr>
              <a:t>Propuesta de valor: Aprendizaje personalizado + Colaboración entre pares + Analítica pedagógica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GANA EL NEGOCIO CON ESTA ARQUITECTURA?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5176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</a:rPr>
              <a:t>≤ 2 seg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Tiempo de respuesta P95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Redis Cache + camino síncrono ligero → experiencia fluida sin frustraciones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5176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54864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</a:rPr>
              <a:t>5.000+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3756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Usuarios concurrentes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9385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Auto-scaling ECS + RabbitMQ como buffer → el sistema crece con la institución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5176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88720"/>
            <a:ext cx="54864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</a:rPr>
              <a:t>99.5%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1792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Disponibilidad garantizada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0" y="19385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Multi-AZ RDS + aislamiento por servicio → cero pérdida durante exámenes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017520"/>
            <a:ext cx="265176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17520"/>
            <a:ext cx="54864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27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</a:rPr>
              <a:t>&lt; 2 sem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Tiempo para nuevo módulo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7673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Servicios desacoplados + CI/CD Blue-Green → evolución sin riesgo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3017520"/>
            <a:ext cx="265176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17520"/>
            <a:ext cx="54864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27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</a:rPr>
              <a:t>Sin código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33756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Motor adaptativo flexible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7673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Reglas en BD configurables por docente → pedagogía sin deploys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80760" y="3017520"/>
            <a:ext cx="2651760" cy="164592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017520"/>
            <a:ext cx="54864" cy="1645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31272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C9A7"/>
                </a:solidFill>
              </a:rPr>
              <a:t>OpenAPI 3.0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217920" y="34930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Integración con sistemas externos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3767328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</a:rPr>
              <a:t>REST + versionado desde MVP → preparado para ecosistema institucional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DECISIÓN ARQUITECTURAL PRINCIPAL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029200" cy="13716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ARQUITECTURA ELEGIDA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Service-Based Architecture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5 servicios de grano grueso · API Gateway · RabbitMQ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188720"/>
            <a:ext cx="3200400" cy="13716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1188720"/>
            <a:ext cx="32004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¿POR QUÉ NO MICROSERVICIOS?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1572768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</a:rPr>
              <a:t>Equipo pequeño (3-4 pers.)
Overhead operacional alto
BD compartida aceptable en MVP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743200"/>
            <a:ext cx="841248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Alternativa Evaluada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Escalabilidad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Complejidad Ops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00C9A7"/>
                </a:solidFill>
              </a:rPr>
              <a:t>Apto</a:t>
            </a:r>
            <a:r>
              <a:rPr lang="en-US" sz="1100" b="1" dirty="0">
                <a:solidFill>
                  <a:srgbClr val="00C9A7"/>
                </a:solidFill>
              </a:rPr>
              <a:t> para </a:t>
            </a:r>
            <a:r>
              <a:rPr lang="en-US" sz="1100" b="1" dirty="0" err="1">
                <a:solidFill>
                  <a:srgbClr val="00C9A7"/>
                </a:solidFill>
              </a:rPr>
              <a:t>proyecto</a:t>
            </a:r>
            <a:endParaRPr lang="en-US" sz="1100" dirty="0" err="1"/>
          </a:p>
        </p:txBody>
      </p:sp>
      <p:sp>
        <p:nvSpPr>
          <p:cNvPr id="19" name="Text 17"/>
          <p:cNvSpPr/>
          <p:nvPr/>
        </p:nvSpPr>
        <p:spPr>
          <a:xfrm>
            <a:off x="6949440" y="2743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Decisión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0632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Monolito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30632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Baja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0" y="306324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3063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Baja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0" y="3063240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Sí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49440" y="3063240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9516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No </a:t>
            </a:r>
            <a:r>
              <a:rPr lang="en-US" sz="1050" dirty="0" err="1">
                <a:solidFill>
                  <a:srgbClr val="64748B"/>
                </a:solidFill>
              </a:rPr>
              <a:t>escala</a:t>
            </a:r>
            <a:endParaRPr lang="en-US" sz="1050" dirty="0" err="1"/>
          </a:p>
        </p:txBody>
      </p:sp>
      <p:sp>
        <p:nvSpPr>
          <p:cNvPr id="30" name="Shape 28"/>
          <p:cNvSpPr/>
          <p:nvPr/>
        </p:nvSpPr>
        <p:spPr>
          <a:xfrm>
            <a:off x="365760" y="3538728"/>
            <a:ext cx="20116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5387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64748B"/>
                </a:solidFill>
              </a:rPr>
              <a:t>Service-Based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2377440" y="3538728"/>
            <a:ext cx="1463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3538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Alta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840480" y="3538728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86200" y="35387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Media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0" y="3538728"/>
            <a:ext cx="1463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538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Sí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949440" y="3538728"/>
            <a:ext cx="1828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53872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64748B"/>
                </a:solidFill>
              </a:rPr>
              <a:t>ELEGIDA</a:t>
            </a:r>
            <a:endParaRPr lang="en-US" sz="1050"/>
          </a:p>
        </p:txBody>
      </p:sp>
      <p:sp>
        <p:nvSpPr>
          <p:cNvPr id="40" name="Shape 38"/>
          <p:cNvSpPr/>
          <p:nvPr/>
        </p:nvSpPr>
        <p:spPr>
          <a:xfrm>
            <a:off x="365760" y="4014216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142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Microservicios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377440" y="4014216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40142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Muy Alta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840480" y="4014216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86200" y="401421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Muy Alta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0" y="4014216"/>
            <a:ext cx="14630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40142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No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49440" y="4014216"/>
            <a:ext cx="1828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95160" y="401421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 err="1">
                <a:solidFill>
                  <a:srgbClr val="64748B"/>
                </a:solidFill>
                <a:ea typeface="Calibri" panose="020F0502020204030204"/>
                <a:cs typeface="Calibri" panose="020F0502020204030204"/>
              </a:rPr>
              <a:t>Compleja</a:t>
            </a:r>
          </a:p>
        </p:txBody>
      </p:sp>
      <p:sp>
        <p:nvSpPr>
          <p:cNvPr id="50" name="Shape 48"/>
          <p:cNvSpPr/>
          <p:nvPr/>
        </p:nvSpPr>
        <p:spPr>
          <a:xfrm>
            <a:off x="365760" y="4489704"/>
            <a:ext cx="201168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48970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Serverless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377440" y="4489704"/>
            <a:ext cx="1463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23160" y="4489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Alta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840480" y="4489704"/>
            <a:ext cx="16459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86200" y="44897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Media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0" y="4489704"/>
            <a:ext cx="14630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532120" y="44897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Parcial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949440" y="4489704"/>
            <a:ext cx="18288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44897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 Vendor lock-in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COMPONENTES LÓGICOS DEL SISTEMA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017520" y="1115568"/>
            <a:ext cx="310896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9E8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11556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3E"/>
                </a:solidFill>
              </a:rPr>
              <a:t>API GATEWAY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3990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F5E"/>
                </a:solidFill>
              </a:rPr>
              <a:t>JWT · Rate Limit · Routing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9019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01952"/>
            <a:ext cx="1600200" cy="3108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019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Service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Auth · RBAC · Perfiles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74420" y="16824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057400" y="19019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901952"/>
            <a:ext cx="1600200" cy="31089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9019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Course Service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148840" y="2267712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Contenidos · Materiales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57500" y="16824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840480" y="19019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0" y="1901952"/>
            <a:ext cx="1600200" cy="31089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19019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Assessment Service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0" y="2267712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Evaluaciones · Motor Adaptativo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40580" y="16824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623560" y="19019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23560" y="1901952"/>
            <a:ext cx="160020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9019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Collaboration Service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715000" y="2267712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Foros · Grupos · WebSocket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23660" y="16824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7360920" y="1901952"/>
            <a:ext cx="1600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60920" y="1901952"/>
            <a:ext cx="160020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1901952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Analytics Service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452360" y="2267712"/>
            <a:ext cx="1417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Reportes · Dashboards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61020" y="1682496"/>
            <a:ext cx="0" cy="219456"/>
          </a:xfrm>
          <a:prstGeom prst="line">
            <a:avLst/>
          </a:prstGeom>
          <a:noFill/>
          <a:ln w="19050">
            <a:solidFill>
              <a:srgbClr val="CBD5E1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017520" y="3520440"/>
            <a:ext cx="3108960" cy="530352"/>
          </a:xfrm>
          <a:prstGeom prst="rect">
            <a:avLst/>
          </a:prstGeom>
          <a:solidFill>
            <a:srgbClr val="1A2F5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017520" y="3520440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RabbitMQ — Mensajería Asíncrona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08960" y="37947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</a:rPr>
              <a:t>Outbox Pattern · Dead Letter Queue · Decoupling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206240"/>
            <a:ext cx="40233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4206240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233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PostgreSQL  ·  Schemas separados por dominio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0624" y="4544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RDS Multi-AZ · PgBouncer · Read Replica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4206240"/>
            <a:ext cx="402336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4206240"/>
            <a:ext cx="54864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4233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Redis (ElastiCache)  ·  Cache-Aside Pattern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92624" y="45445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TTL configurable · Cluster Mode · JWT blacklist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6"/>
          <p:cNvSpPr/>
          <p:nvPr/>
        </p:nvSpPr>
        <p:spPr>
          <a:xfrm>
            <a:off x="6137263" y="15087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37263" y="1508760"/>
            <a:ext cx="2651760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37263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Dominio Evaluación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46991" y="1920240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6991" y="19202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Quiz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46991" y="2212848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6991" y="22128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EvaluationAttempt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46991" y="2505456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46991" y="25054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AdaptationRule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46991" y="2798064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6991" y="2798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AdaptiveEngine</a:t>
            </a:r>
            <a:endParaRPr lang="en-US" sz="95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VISTAS 4+1  ·  </a:t>
            </a:r>
            <a:r>
              <a:rPr lang="en-US" sz="2400" b="1" dirty="0">
                <a:solidFill>
                  <a:srgbClr val="FFFFFF"/>
                </a:solidFill>
              </a:rPr>
              <a:t>01 Vista Lógica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Organización de dominio en capas de responsabilidad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Dominio Usuario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1920240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202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" y="2212848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128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Session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2505456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5054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Role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798064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798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Permission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15087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46120" y="1508760"/>
            <a:ext cx="265176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Dominio Curso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1920240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19202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Course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2212848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22128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Module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2505456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55848" y="25054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Lesson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2798064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2798064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ContentURL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843034" y="328925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843034" y="3289252"/>
            <a:ext cx="26517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43034" y="32892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Dominio Colaboración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952762" y="3700732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762" y="37007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Forum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1952762" y="3993340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52762" y="39933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Thread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952762" y="4285948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952762" y="42859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StudyGroup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1952762" y="4578556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762" y="4578556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ChatMessage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723394" y="3289252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23394" y="3289252"/>
            <a:ext cx="265176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23394" y="328925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Dominio Analítica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833122" y="3700732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33122" y="3700732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ProgressRecord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33122" y="3993340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33122" y="3993340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Analytics­Report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833122" y="4285948"/>
            <a:ext cx="2432304" cy="25603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3122" y="428594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</a:rPr>
              <a:t>Alert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VISTAS 4+1  ·  </a:t>
            </a:r>
            <a:r>
              <a:rPr lang="en-US" sz="2400" b="1" dirty="0">
                <a:solidFill>
                  <a:srgbClr val="FFFFFF"/>
                </a:solidFill>
              </a:rPr>
              <a:t>03 Vista de Procesos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402336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Síncrono</a:t>
            </a:r>
            <a:r>
              <a:rPr lang="en-US" sz="1200" b="1" dirty="0">
                <a:solidFill>
                  <a:srgbClr val="FFFFFF"/>
                </a:solidFill>
              </a:rPr>
              <a:t> — </a:t>
            </a:r>
            <a:r>
              <a:rPr lang="en-US" sz="1200" b="1" dirty="0" err="1">
                <a:solidFill>
                  <a:srgbClr val="FFFFFF"/>
                </a:solidFill>
              </a:rPr>
              <a:t>Operaciones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Crítico</a:t>
            </a:r>
            <a:endParaRPr lang="en-US" sz="1200" dirty="0" err="1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Estudiante → API Gateway → Servicio → Respuesta directa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Optimizado para latencia mínima.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Redis caché en ruta crítica.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15568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 </a:t>
            </a:r>
            <a:r>
              <a:rPr lang="en-US" sz="1100" b="1" dirty="0" err="1">
                <a:solidFill>
                  <a:srgbClr val="0D1B3E"/>
                </a:solidFill>
              </a:rPr>
              <a:t>Asíncrono</a:t>
            </a:r>
            <a:r>
              <a:rPr lang="en-US" sz="1100" b="1" dirty="0">
                <a:solidFill>
                  <a:srgbClr val="0D1B3E"/>
                </a:solidFill>
              </a:rPr>
              <a:t> — </a:t>
            </a:r>
            <a:r>
              <a:rPr lang="en-US" sz="1100" b="1" dirty="0" err="1">
                <a:solidFill>
                  <a:srgbClr val="0D1B3E"/>
                </a:solidFill>
              </a:rPr>
              <a:t>Procesamiento</a:t>
            </a:r>
            <a:r>
              <a:rPr lang="en-US" sz="1100" b="1" dirty="0">
                <a:solidFill>
                  <a:srgbClr val="0D1B3E"/>
                </a:solidFill>
              </a:rPr>
              <a:t> </a:t>
            </a:r>
            <a:r>
              <a:rPr lang="en-US" sz="1100" b="1" dirty="0" err="1">
                <a:solidFill>
                  <a:srgbClr val="0D1B3E"/>
                </a:solidFill>
              </a:rPr>
              <a:t>Secundario</a:t>
            </a:r>
            <a:endParaRPr lang="en-US" sz="1100" dirty="0" err="1"/>
          </a:p>
        </p:txBody>
      </p:sp>
      <p:sp>
        <p:nvSpPr>
          <p:cNvPr id="12" name="Text 10"/>
          <p:cNvSpPr/>
          <p:nvPr/>
        </p:nvSpPr>
        <p:spPr>
          <a:xfrm>
            <a:off x="4892040" y="150876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Eventos RabbitMQ → Analytics &amp; Collaboration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Fuera del camino crítico.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 bloquea la respuesta al usuario.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Operación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7889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Latencia P95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20624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Componente Limitante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27889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</a:rPr>
              <a:t>Táctica de Mitigación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3639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Login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51760" y="3136392"/>
            <a:ext cx="15544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51760" y="31363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~150ms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06240" y="313639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bcrypt (deliberado)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3136392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392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Rate limiting anti-brute force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3520440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20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Carga de curso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3520440"/>
            <a:ext cx="15544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3520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~80ms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06240" y="3520440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79392" y="3520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PostgreSQL + Redis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92240" y="3520440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35204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Redis caché TTL=3600s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9044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39044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Envío evaluación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51760" y="3904488"/>
            <a:ext cx="15544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39044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~120ms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06240" y="39044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9392" y="39044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Assessment Service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492240" y="3904488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65392" y="39044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Auto-scaling + Redis reglas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65760" y="4288536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88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Dashboard progreso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51760" y="4288536"/>
            <a:ext cx="15544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42885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~200ms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06240" y="4288536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4288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Analytics queries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92240" y="4288536"/>
            <a:ext cx="22860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4288536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Read replica PostgreSQL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467258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4672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</a:rPr>
              <a:t>Post en foro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4672584"/>
            <a:ext cx="1554480" cy="384048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51760" y="467258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6534"/>
                </a:solidFill>
              </a:rPr>
              <a:t>~60ms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4206240" y="467258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79392" y="4672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PostgreSQL write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492240" y="4672584"/>
            <a:ext cx="22860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65392" y="4672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PgBouncer pooling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</a:rPr>
              <a:t>VISTAS 4+1  ·  </a:t>
            </a:r>
            <a:r>
              <a:rPr lang="en-US" sz="2200" b="1" dirty="0">
                <a:solidFill>
                  <a:srgbClr val="FFFFFF"/>
                </a:solidFill>
              </a:rPr>
              <a:t>04 Vista Física — Infraestructura AWS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8595360" cy="47548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INTERNET / USUARIOS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713205"/>
            <a:ext cx="8595360" cy="324612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916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AWS VPC — Producción (Multi-AZ)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25615" y="2939020"/>
            <a:ext cx="1691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25615" y="2939020"/>
            <a:ext cx="169164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25615" y="31950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CloudFront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+ S3 (Frontend)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34906" y="1990114"/>
            <a:ext cx="1691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34906" y="1990114"/>
            <a:ext cx="1691640" cy="25603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34906" y="224614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API Gateway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+ Kong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799" y="2928237"/>
            <a:ext cx="1691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799" y="2928237"/>
            <a:ext cx="1691640" cy="2560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799" y="3184269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ECS Fargate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5 Servicios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599" y="2928237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599" y="2928237"/>
            <a:ext cx="1417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599" y="3184269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AWS MQ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RabbitMQ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65995" y="2000897"/>
            <a:ext cx="1325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265995" y="2000897"/>
            <a:ext cx="132588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5995" y="2256929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CloudWatch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D1B3E"/>
                </a:solidFill>
              </a:rPr>
              <a:t>+ X-Ray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4851" y="3923293"/>
            <a:ext cx="374904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851" y="3923293"/>
            <a:ext cx="3749040" cy="2743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1115" y="3966425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RDS PostgreSQL 16 Multi-AZ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291" y="4234189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db.t3.large · 100GB SSD · Backups 7d · Failover &lt; 60s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36997" y="3944860"/>
            <a:ext cx="3108960" cy="91440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36997" y="3944860"/>
            <a:ext cx="310896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36997" y="39448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ElastiCache Redis 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28437" y="4255756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cache.t3.medium · Cluster Mode · Hit rate &gt; 80%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92139" y="3923294"/>
            <a:ext cx="1143000" cy="914400"/>
          </a:xfrm>
          <a:prstGeom prst="rect">
            <a:avLst/>
          </a:prstGeom>
          <a:solidFill>
            <a:srgbClr val="FEF9EC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92139" y="3923294"/>
            <a:ext cx="114300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92139" y="3923294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S3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3E"/>
                </a:solidFill>
              </a:rPr>
              <a:t>Storage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CUMPLIMIENTO DE ATRIBUTOS DE CALIDAD (ISO 25010)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3769" y="1180266"/>
            <a:ext cx="7959594" cy="318401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3769" y="118026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</a:rPr>
              <a:t>Atributo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985369" y="118026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</a:rPr>
              <a:t>Driver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808329" y="1180266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9A7"/>
                </a:solidFill>
              </a:rPr>
              <a:t>Tácticas Aplicadas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3769" y="150945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769" y="150945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Performance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85369" y="1509450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85369" y="150945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08329" y="1509450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9769" y="150945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Cache-Aside Redis + síncrono ligero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3769" y="1984938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769" y="198493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Scalability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85369" y="1984938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85369" y="198493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808329" y="1984938"/>
            <a:ext cx="57607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9769" y="198493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Horizontal Scaling ECS + RabbitMQ buffer + Stateless JWT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3769" y="2460426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769" y="246042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Availability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985369" y="2460426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5369" y="246042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08329" y="2460426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99769" y="246042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Multi-AZ RDS + Fault Isolation + Dead Letter Queue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3769" y="2935914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769" y="293591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Security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985369" y="2935914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85369" y="293591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08329" y="2935914"/>
            <a:ext cx="57607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99769" y="293591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JWT RS256 + RBAC + TLS 1.3 + AES-256 + Ley 1581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769" y="3411402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769" y="341140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Maintainability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985369" y="3411402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85369" y="341140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08329" y="3411402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99769" y="341140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5 servicios independientes + CI/CD Blue-Green + Rules in DB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13769" y="3886890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769" y="388689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Interoperability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985369" y="3886890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85369" y="388689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DR-06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808329" y="3886890"/>
            <a:ext cx="576072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99769" y="388689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REST + OpenAPI 3.0 + versionado /api/v1/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13769" y="4362378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3769" y="436237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</a:rPr>
              <a:t>Functional Suit.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1985369" y="4362378"/>
            <a:ext cx="82296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85369" y="436237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B82F6"/>
                </a:solidFill>
              </a:rPr>
              <a:t>DR-07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808329" y="4362378"/>
            <a:ext cx="5760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899769" y="4362378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Rules Engine con AdaptationRule en PostgreSQL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0C9A7">
              <a:alpha val="12000"/>
            </a:srgbClr>
          </a:solidFill>
          <a:ln w="12700">
            <a:solidFill>
              <a:srgbClr val="00C9A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que escala con la educación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9A7"/>
                </a:solidFill>
              </a:rPr>
              <a:t>Service-Based</a:t>
            </a:r>
            <a:r>
              <a:rPr lang="en-US" sz="1500" dirty="0">
                <a:solidFill>
                  <a:srgbClr val="CBD5E1"/>
                </a:solidFill>
              </a:rPr>
              <a:t>  ·  Performance ≤ 2s  ·  5.000+ usuarios  ·  </a:t>
            </a:r>
            <a:r>
              <a:rPr lang="en-US" sz="1500" b="1" dirty="0">
                <a:solidFill>
                  <a:srgbClr val="00C9A7"/>
                </a:solidFill>
              </a:rPr>
              <a:t>99.5% SLA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29260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05740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Motor adaptativo sin deploys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371600" y="2788920"/>
            <a:ext cx="29260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278892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CI/CD Blue-Green sin downtime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057400"/>
            <a:ext cx="29260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205740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75504" y="20574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Cumplimiento Ley 1581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0" y="2788920"/>
            <a:ext cx="2926080" cy="594360"/>
          </a:xfrm>
          <a:prstGeom prst="rect">
            <a:avLst/>
          </a:prstGeom>
          <a:solidFill>
            <a:srgbClr val="1A2F5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788920"/>
            <a:ext cx="54864" cy="5943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788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Extensible hacia microservicios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74320" y="4480560"/>
            <a:ext cx="859536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</a:rPr>
              <a:t>Pontificia Universidad Javeriana  ·  Arquitectura de Software  ·  Marzo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Presentación en pantalla (16:9)</PresentationFormat>
  <Paragraphs>0</Paragraphs>
  <Slides>11</Slides>
  <Notes>11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2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de Aprendizaje Adaptativo — Arquitectura de Software</dc:title>
  <dc:subject>PptxGenJS Presentation</dc:subject>
  <dc:creator>PptxGenJS</dc:creator>
  <cp:lastModifiedBy>PptxGenJS</cp:lastModifiedBy>
  <cp:revision>61</cp:revision>
  <dcterms:created xsi:type="dcterms:W3CDTF">2026-03-26T03:14:16Z</dcterms:created>
  <dcterms:modified xsi:type="dcterms:W3CDTF">2026-03-26T16:53:32Z</dcterms:modified>
</cp:coreProperties>
</file>