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28600" y="0"/>
            <a:ext cx="8915400" cy="54864"/>
          </a:xfrm>
          <a:prstGeom prst="rect">
            <a:avLst/>
          </a:prstGeom>
          <a:solidFill>
            <a:srgbClr val="1A2F5E"/>
          </a:solidFill>
          <a:ln w="12700">
            <a:solidFill>
              <a:srgbClr val="1A2F5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132320" y="-457200"/>
            <a:ext cx="2560320" cy="2560320"/>
          </a:xfrm>
          <a:prstGeom prst="ellipse">
            <a:avLst/>
          </a:prstGeom>
          <a:solidFill>
            <a:srgbClr val="00C9A7">
              <a:alpha val="15000"/>
            </a:srgbClr>
          </a:solidFill>
          <a:ln w="12700">
            <a:solidFill>
              <a:srgbClr val="00C9A7">
                <a:alpha val="3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680960" y="182880"/>
            <a:ext cx="1645920" cy="1645920"/>
          </a:xfrm>
          <a:prstGeom prst="ellipse">
            <a:avLst/>
          </a:prstGeom>
          <a:solidFill>
            <a:srgbClr val="00C9A7">
              <a:alpha val="25000"/>
            </a:srgbClr>
          </a:solidFill>
          <a:ln w="12700">
            <a:solidFill>
              <a:srgbClr val="00C9A7">
                <a:alpha val="4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0" y="3657600"/>
            <a:ext cx="2286000" cy="2286000"/>
          </a:xfrm>
          <a:prstGeom prst="ellipse">
            <a:avLst/>
          </a:prstGeom>
          <a:solidFill>
            <a:srgbClr val="1A2F5E">
              <a:alpha val="60000"/>
            </a:srgbClr>
          </a:solidFill>
          <a:ln w="12700">
            <a:solidFill>
              <a:srgbClr val="00C9A7">
                <a:alpha val="40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777240"/>
            <a:ext cx="2377440" cy="292608"/>
          </a:xfrm>
          <a:prstGeom prst="rect">
            <a:avLst>
              <a:gd name="adj" fmla="val 15625"/>
            </a:avLst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77724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1B3E"/>
                </a:solidFill>
              </a:rPr>
              <a:t>ARQUITECTURA DE SOFTWARE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57200" y="1188720"/>
            <a:ext cx="6858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 de Aprendizaje</a:t>
            </a:r>
            <a:endParaRPr lang="en-US" sz="3800" dirty="0"/>
          </a:p>
        </p:txBody>
      </p:sp>
      <p:sp>
        <p:nvSpPr>
          <p:cNvPr id="10" name="Text 8"/>
          <p:cNvSpPr/>
          <p:nvPr/>
        </p:nvSpPr>
        <p:spPr>
          <a:xfrm>
            <a:off x="457200" y="1737360"/>
            <a:ext cx="6858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Adaptativo y Colaborativo</a:t>
            </a:r>
            <a:endParaRPr lang="en-US" sz="3800" dirty="0"/>
          </a:p>
        </p:txBody>
      </p:sp>
      <p:sp>
        <p:nvSpPr>
          <p:cNvPr id="11" name="Text 9"/>
          <p:cNvSpPr/>
          <p:nvPr/>
        </p:nvSpPr>
        <p:spPr>
          <a:xfrm>
            <a:off x="457200" y="251460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BD5E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Decisiones arquitecturales · Componentes · Vistas 4+1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3017520"/>
            <a:ext cx="4114800" cy="27432"/>
          </a:xfrm>
          <a:prstGeom prst="rect">
            <a:avLst/>
          </a:prstGeom>
          <a:solidFill>
            <a:srgbClr val="CBD5E1">
              <a:alpha val="50000"/>
            </a:srgbClr>
          </a:solidFill>
          <a:ln w="12700">
            <a:solidFill>
              <a:srgbClr val="CBD5E1">
                <a:alpha val="5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2004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Pontificia Universidad Javeriana  ·  </a:t>
            </a:r>
            <a:pPr indent="0" marL="0">
              <a:buNone/>
            </a:pPr>
            <a:r>
              <a:rPr lang="en-US" sz="1100" b="1" dirty="0">
                <a:solidFill>
                  <a:srgbClr val="00C9A7"/>
                </a:solidFill>
              </a:rPr>
              <a:t>Marzo 2026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374904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Service-Based Architecture  ·  AWS Cloud  ·  Node.js  ·  React  ·  PostgreSQL  ·  RabbitMQ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D1B3E"/>
          </a:solidFill>
          <a:ln w="12700">
            <a:solidFill>
              <a:srgbClr val="0D1B3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0"/>
            <a:ext cx="82296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188720"/>
            <a:ext cx="41148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65760" y="1188720"/>
            <a:ext cx="411480" cy="914400"/>
          </a:xfrm>
          <a:prstGeom prst="rect">
            <a:avLst/>
          </a:prstGeom>
          <a:solidFill>
            <a:srgbClr val="0D1B3E"/>
          </a:solidFill>
          <a:ln w="12700">
            <a:solidFill>
              <a:srgbClr val="0D1B3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1188720"/>
            <a:ext cx="411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C9A7"/>
                </a:solidFill>
              </a:rPr>
              <a:t>01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68680" y="128016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B3E"/>
                </a:solidFill>
              </a:rPr>
              <a:t>Core del Negocio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68680" y="1627632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Problema, usuarios y propuesta de valor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65760" y="2286000"/>
            <a:ext cx="41148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2286000"/>
            <a:ext cx="411480" cy="914400"/>
          </a:xfrm>
          <a:prstGeom prst="rect">
            <a:avLst/>
          </a:prstGeom>
          <a:solidFill>
            <a:srgbClr val="0D1B3E"/>
          </a:solidFill>
          <a:ln w="12700">
            <a:solidFill>
              <a:srgbClr val="0D1B3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2286000"/>
            <a:ext cx="411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C9A7"/>
                </a:solidFill>
              </a:rPr>
              <a:t>02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68680" y="237744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B3E"/>
                </a:solidFill>
              </a:rPr>
              <a:t>Por qué la Arquitectura importa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68680" y="2724912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El plus que la arquitectura aporta al negocio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5760" y="3383280"/>
            <a:ext cx="41148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3383280"/>
            <a:ext cx="411480" cy="914400"/>
          </a:xfrm>
          <a:prstGeom prst="rect">
            <a:avLst/>
          </a:prstGeom>
          <a:solidFill>
            <a:srgbClr val="0D1B3E"/>
          </a:solidFill>
          <a:ln w="12700">
            <a:solidFill>
              <a:srgbClr val="0D1B3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383280"/>
            <a:ext cx="411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C9A7"/>
                </a:solidFill>
              </a:rPr>
              <a:t>03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68680" y="347472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B3E"/>
                </a:solidFill>
              </a:rPr>
              <a:t>Decisión Arquitectural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68680" y="3822192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Service-Based Architecture y justificación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846320" y="1188720"/>
            <a:ext cx="41148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846320" y="1188720"/>
            <a:ext cx="411480" cy="914400"/>
          </a:xfrm>
          <a:prstGeom prst="rect">
            <a:avLst/>
          </a:prstGeom>
          <a:solidFill>
            <a:srgbClr val="0D1B3E"/>
          </a:solidFill>
          <a:ln w="12700">
            <a:solidFill>
              <a:srgbClr val="0D1B3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46320" y="1188720"/>
            <a:ext cx="411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C9A7"/>
                </a:solidFill>
              </a:rPr>
              <a:t>04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349240" y="128016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B3E"/>
                </a:solidFill>
              </a:rPr>
              <a:t>Componentes Lógicos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49240" y="1627632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5 servicios, API Gateway, mensajería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846320" y="2286000"/>
            <a:ext cx="41148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846320" y="2286000"/>
            <a:ext cx="411480" cy="914400"/>
          </a:xfrm>
          <a:prstGeom prst="rect">
            <a:avLst/>
          </a:prstGeom>
          <a:solidFill>
            <a:srgbClr val="0D1B3E"/>
          </a:solidFill>
          <a:ln w="12700">
            <a:solidFill>
              <a:srgbClr val="0D1B3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846320" y="2286000"/>
            <a:ext cx="411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C9A7"/>
                </a:solidFill>
              </a:rPr>
              <a:t>05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349240" y="237744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B3E"/>
                </a:solidFill>
              </a:rPr>
              <a:t>Stack Tecnológico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349240" y="2724912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Node.js, React, PostgreSQL, Redis, AWS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846320" y="3383280"/>
            <a:ext cx="41148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4846320" y="3383280"/>
            <a:ext cx="411480" cy="914400"/>
          </a:xfrm>
          <a:prstGeom prst="rect">
            <a:avLst/>
          </a:prstGeom>
          <a:solidFill>
            <a:srgbClr val="0D1B3E"/>
          </a:solidFill>
          <a:ln w="12700">
            <a:solidFill>
              <a:srgbClr val="0D1B3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846320" y="3383280"/>
            <a:ext cx="411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C9A7"/>
                </a:solidFill>
              </a:rPr>
              <a:t>06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349240" y="347472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B3E"/>
                </a:solidFill>
              </a:rPr>
              <a:t>Vistas 4+1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5349240" y="3822192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Lógica, Desarrollo, Procesos, Física, Escenarios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D1B3E"/>
          </a:solidFill>
          <a:ln w="12700">
            <a:solidFill>
              <a:srgbClr val="0D1B3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0"/>
            <a:ext cx="82296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DEL NEGOCIO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188720"/>
            <a:ext cx="8412480" cy="868680"/>
          </a:xfrm>
          <a:prstGeom prst="rect">
            <a:avLst/>
          </a:prstGeom>
          <a:solidFill>
            <a:srgbClr val="0D1B3E"/>
          </a:solidFill>
          <a:ln w="12700">
            <a:solidFill>
              <a:srgbClr val="0D1B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02920" y="120700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C9A7"/>
                </a:solidFill>
              </a:rPr>
              <a:t>El Problema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2920" y="146304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Las plataformas educativas actuales ofrecen el mismo contenido para todos los estudiantes y priorizan el aprendizaje individual, ignorando que cada estudiante aprende a ritmo distinto y que la colaboración entre pares mejora significativamente la comprensión.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" y="2240280"/>
            <a:ext cx="2651760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65760" y="2240280"/>
            <a:ext cx="2651760" cy="384048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2240280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B3E"/>
                </a:solidFill>
              </a:rPr>
              <a:t>Estudiante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02920" y="2743200"/>
            <a:ext cx="237744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Accede a contenidos, realiza evaluaciones, sigue su progreso adaptado a su ritmo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0" y="2240280"/>
            <a:ext cx="2651760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00400" y="2240280"/>
            <a:ext cx="2651760" cy="38404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00400" y="2240280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B3E"/>
                </a:solidFill>
              </a:rPr>
              <a:t>Docente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337560" y="2743200"/>
            <a:ext cx="237744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Diseña cursos, publica materiales, define evaluaciones y monitorea el grupo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035040" y="2240280"/>
            <a:ext cx="2651760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035040" y="2240280"/>
            <a:ext cx="2651760" cy="384048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35040" y="2240280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B3E"/>
                </a:solidFill>
              </a:rPr>
              <a:t>Administrador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172200" y="2743200"/>
            <a:ext cx="237744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Gestiona usuarios, configura la plataforma y supervisa el uso del sistema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65760" y="4800600"/>
            <a:ext cx="8412480" cy="256032"/>
          </a:xfrm>
          <a:prstGeom prst="rect">
            <a:avLst/>
          </a:prstGeom>
          <a:solidFill>
            <a:srgbClr val="00C9A7">
              <a:alpha val="15000"/>
            </a:srgbClr>
          </a:solidFill>
          <a:ln w="12700">
            <a:solidFill>
              <a:srgbClr val="00C9A7">
                <a:alpha val="4000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65760" y="4800600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2F5E"/>
                </a:solidFill>
              </a:rPr>
              <a:t>Propuesta de valor: Aprendizaje personalizado + Colaboración entre pares + Analítica pedagógica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B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A2F5E"/>
          </a:solidFill>
          <a:ln w="12700">
            <a:solidFill>
              <a:srgbClr val="1A2F5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0"/>
            <a:ext cx="82296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GANA EL NEGOCIO CON ESTA ARQUITECTURA?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20040" y="1188720"/>
            <a:ext cx="2651760" cy="1645920"/>
          </a:xfrm>
          <a:prstGeom prst="rect">
            <a:avLst/>
          </a:prstGeom>
          <a:solidFill>
            <a:srgbClr val="1A2F5E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188720"/>
            <a:ext cx="54864" cy="1645920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298448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C9A7"/>
                </a:solidFill>
              </a:rPr>
              <a:t>≤ 2 seg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457200" y="166420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Tiempo de respuesta P95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1938528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</a:rPr>
              <a:t>Redis Cache + camino síncrono ligero → experiencia fluida sin frustraciones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200400" y="1188720"/>
            <a:ext cx="2651760" cy="1645920"/>
          </a:xfrm>
          <a:prstGeom prst="rect">
            <a:avLst/>
          </a:prstGeom>
          <a:solidFill>
            <a:srgbClr val="1A2F5E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00400" y="1188720"/>
            <a:ext cx="54864" cy="1645920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337560" y="1298448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C9A7"/>
                </a:solidFill>
              </a:rPr>
              <a:t>5.000+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3337560" y="166420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Usuarios concurrentes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337560" y="1938528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</a:rPr>
              <a:t>Auto-scaling ECS + RabbitMQ como buffer → el sistema crece con la institución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080760" y="1188720"/>
            <a:ext cx="2651760" cy="1645920"/>
          </a:xfrm>
          <a:prstGeom prst="rect">
            <a:avLst/>
          </a:prstGeom>
          <a:solidFill>
            <a:srgbClr val="1A2F5E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080760" y="1188720"/>
            <a:ext cx="54864" cy="1645920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217920" y="1298448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C9A7"/>
                </a:solidFill>
              </a:rPr>
              <a:t>99.5%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6217920" y="166420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Disponibilidad garantizada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217920" y="1938528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</a:rPr>
              <a:t>Multi-AZ RDS + aislamiento por servicio → cero pérdida durante exámenes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20040" y="3017520"/>
            <a:ext cx="2651760" cy="1645920"/>
          </a:xfrm>
          <a:prstGeom prst="rect">
            <a:avLst/>
          </a:prstGeom>
          <a:solidFill>
            <a:srgbClr val="1A2F5E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20040" y="3017520"/>
            <a:ext cx="54864" cy="1645920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" y="3127248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C9A7"/>
                </a:solidFill>
              </a:rPr>
              <a:t>&lt; 2 sem</a:t>
            </a:r>
            <a:endParaRPr lang="en-US" sz="2600" dirty="0"/>
          </a:p>
        </p:txBody>
      </p:sp>
      <p:sp>
        <p:nvSpPr>
          <p:cNvPr id="23" name="Text 21"/>
          <p:cNvSpPr/>
          <p:nvPr/>
        </p:nvSpPr>
        <p:spPr>
          <a:xfrm>
            <a:off x="457200" y="349300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Tiempo para nuevo módulo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57200" y="3767328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</a:rPr>
              <a:t>Servicios desacoplados + CI/CD Blue-Green → evolución sin riesgo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3200400" y="3017520"/>
            <a:ext cx="2651760" cy="1645920"/>
          </a:xfrm>
          <a:prstGeom prst="rect">
            <a:avLst/>
          </a:prstGeom>
          <a:solidFill>
            <a:srgbClr val="1A2F5E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200400" y="3017520"/>
            <a:ext cx="54864" cy="1645920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337560" y="3127248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C9A7"/>
                </a:solidFill>
              </a:rPr>
              <a:t>Sin código</a:t>
            </a:r>
            <a:endParaRPr lang="en-US" sz="2600" dirty="0"/>
          </a:p>
        </p:txBody>
      </p:sp>
      <p:sp>
        <p:nvSpPr>
          <p:cNvPr id="28" name="Text 26"/>
          <p:cNvSpPr/>
          <p:nvPr/>
        </p:nvSpPr>
        <p:spPr>
          <a:xfrm>
            <a:off x="3337560" y="349300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Motor adaptativo flexible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3337560" y="3767328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</a:rPr>
              <a:t>Reglas en BD configurables por docente → pedagogía sin deploys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080760" y="3017520"/>
            <a:ext cx="2651760" cy="1645920"/>
          </a:xfrm>
          <a:prstGeom prst="rect">
            <a:avLst/>
          </a:prstGeom>
          <a:solidFill>
            <a:srgbClr val="1A2F5E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6080760" y="3017520"/>
            <a:ext cx="54864" cy="1645920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217920" y="3127248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C9A7"/>
                </a:solidFill>
              </a:rPr>
              <a:t>OpenAPI 3.0</a:t>
            </a:r>
            <a:endParaRPr lang="en-US" sz="2600" dirty="0"/>
          </a:p>
        </p:txBody>
      </p:sp>
      <p:sp>
        <p:nvSpPr>
          <p:cNvPr id="33" name="Text 31"/>
          <p:cNvSpPr/>
          <p:nvPr/>
        </p:nvSpPr>
        <p:spPr>
          <a:xfrm>
            <a:off x="6217920" y="349300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Integración con sistemas externos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217920" y="3767328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</a:rPr>
              <a:t>REST + versionado desde MVP → preparado para ecosistema institucional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D1B3E"/>
          </a:solidFill>
          <a:ln w="12700">
            <a:solidFill>
              <a:srgbClr val="0D1B3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0"/>
            <a:ext cx="82296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DECISIÓN ARQUITECTURAL PRINCIPAL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1188720"/>
            <a:ext cx="5029200" cy="1371600"/>
          </a:xfrm>
          <a:prstGeom prst="rect">
            <a:avLst/>
          </a:prstGeom>
          <a:solidFill>
            <a:srgbClr val="0D1B3E"/>
          </a:solidFill>
          <a:ln w="12700">
            <a:solidFill>
              <a:srgbClr val="0D1B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65760" y="1188720"/>
            <a:ext cx="5029200" cy="320040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118872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D1B3E"/>
                </a:solidFill>
              </a:rPr>
              <a:t>ARQUITECTURA ELEGIDA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Service-Based Architecture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57200" y="192024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</a:rPr>
              <a:t>5 servicios de grano grueso · API Gateway · RabbitMQ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577840" y="1188720"/>
            <a:ext cx="3200400" cy="1371600"/>
          </a:xfrm>
          <a:prstGeom prst="rect">
            <a:avLst/>
          </a:prstGeom>
          <a:solidFill>
            <a:srgbClr val="FEF3C7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5577840" y="1188720"/>
            <a:ext cx="3200400" cy="3200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577840" y="118872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1B3E"/>
                </a:solidFill>
              </a:rPr>
              <a:t>¿POR QUÉ NO MICROSERVICIOS?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5669280" y="1572768"/>
            <a:ext cx="3017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2400E"/>
                </a:solidFill>
              </a:rPr>
              <a:t>Equipo pequeño (3-4 pers.)
</a:t>
            </a:r>
            <a:pPr indent="0" marL="0">
              <a:buNone/>
            </a:pPr>
            <a:r>
              <a:rPr lang="en-US" sz="1000" dirty="0">
                <a:solidFill>
                  <a:srgbClr val="92400E"/>
                </a:solidFill>
              </a:rPr>
              <a:t>Overhead operacional alto
</a:t>
            </a:r>
            <a:pPr indent="0" marL="0">
              <a:buNone/>
            </a:pPr>
            <a:r>
              <a:rPr lang="en-US" sz="1000" dirty="0">
                <a:solidFill>
                  <a:srgbClr val="92400E"/>
                </a:solidFill>
              </a:rPr>
              <a:t>BD compartida aceptable en MVP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65760" y="2743200"/>
            <a:ext cx="8412480" cy="320040"/>
          </a:xfrm>
          <a:prstGeom prst="rect">
            <a:avLst/>
          </a:prstGeom>
          <a:solidFill>
            <a:srgbClr val="0D1B3E"/>
          </a:solidFill>
          <a:ln w="12700">
            <a:solidFill>
              <a:srgbClr val="0D1B3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74320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C9A7"/>
                </a:solidFill>
              </a:rPr>
              <a:t>Alternativa Evaluada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377440" y="274320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C9A7"/>
                </a:solidFill>
              </a:rPr>
              <a:t>Escalabilidad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840480" y="274320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C9A7"/>
                </a:solidFill>
              </a:rPr>
              <a:t>Complejidad Ops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486400" y="274320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C9A7"/>
                </a:solidFill>
              </a:rPr>
              <a:t>Apto para MVP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949440" y="27432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C9A7"/>
                </a:solidFill>
              </a:rPr>
              <a:t>Decisión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65760" y="3063240"/>
            <a:ext cx="201168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11480" y="306324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</a:rPr>
              <a:t>Monolito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2377440" y="3063240"/>
            <a:ext cx="146304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423160" y="306324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</a:rPr>
              <a:t>Baja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3840480" y="3063240"/>
            <a:ext cx="164592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886200" y="306324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</a:rPr>
              <a:t>Baja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486400" y="3063240"/>
            <a:ext cx="146304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532120" y="306324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</a:rPr>
              <a:t>Sí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949440" y="3063240"/>
            <a:ext cx="18288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995160" y="30632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</a:rPr>
              <a:t>❌ No escala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365760" y="3538728"/>
            <a:ext cx="2011680" cy="4572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11480" y="3538728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4748B"/>
                </a:solidFill>
              </a:rPr>
              <a:t>Service-Based ✓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2377440" y="3538728"/>
            <a:ext cx="1463040" cy="4572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423160" y="353872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</a:rPr>
              <a:t>Alta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3840480" y="3538728"/>
            <a:ext cx="1645920" cy="4572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886200" y="3538728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</a:rPr>
              <a:t>Media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5486400" y="3538728"/>
            <a:ext cx="1463040" cy="4572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532120" y="353872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</a:rPr>
              <a:t>Sí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6949440" y="3538728"/>
            <a:ext cx="1828800" cy="4572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995160" y="353872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</a:rPr>
              <a:t>✅ ELEGIDA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365760" y="4014216"/>
            <a:ext cx="201168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11480" y="4014216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</a:rPr>
              <a:t>Microservicios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2377440" y="4014216"/>
            <a:ext cx="146304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423160" y="4014216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</a:rPr>
              <a:t>Muy Alta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3840480" y="4014216"/>
            <a:ext cx="164592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886200" y="4014216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</a:rPr>
              <a:t>Muy Alta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5486400" y="4014216"/>
            <a:ext cx="146304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532120" y="4014216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</a:rPr>
              <a:t>No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6949440" y="4014216"/>
            <a:ext cx="18288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995160" y="4014216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</a:rPr>
              <a:t>❌ Prematura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365760" y="4489704"/>
            <a:ext cx="2011680" cy="4572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11480" y="4489704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</a:rPr>
              <a:t>Serverless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2377440" y="4489704"/>
            <a:ext cx="1463040" cy="4572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2423160" y="4489704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</a:rPr>
              <a:t>Alta</a:t>
            </a:r>
            <a:endParaRPr lang="en-US" sz="1050" dirty="0"/>
          </a:p>
        </p:txBody>
      </p:sp>
      <p:sp>
        <p:nvSpPr>
          <p:cNvPr id="54" name="Shape 52"/>
          <p:cNvSpPr/>
          <p:nvPr/>
        </p:nvSpPr>
        <p:spPr>
          <a:xfrm>
            <a:off x="3840480" y="4489704"/>
            <a:ext cx="1645920" cy="4572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886200" y="4489704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</a:rPr>
              <a:t>Media</a:t>
            </a:r>
            <a:endParaRPr lang="en-US" sz="1050" dirty="0"/>
          </a:p>
        </p:txBody>
      </p:sp>
      <p:sp>
        <p:nvSpPr>
          <p:cNvPr id="56" name="Shape 54"/>
          <p:cNvSpPr/>
          <p:nvPr/>
        </p:nvSpPr>
        <p:spPr>
          <a:xfrm>
            <a:off x="5486400" y="4489704"/>
            <a:ext cx="1463040" cy="4572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532120" y="4489704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</a:rPr>
              <a:t>Parcial</a:t>
            </a:r>
            <a:endParaRPr lang="en-US" sz="1050" dirty="0"/>
          </a:p>
        </p:txBody>
      </p:sp>
      <p:sp>
        <p:nvSpPr>
          <p:cNvPr id="58" name="Shape 56"/>
          <p:cNvSpPr/>
          <p:nvPr/>
        </p:nvSpPr>
        <p:spPr>
          <a:xfrm>
            <a:off x="6949440" y="4489704"/>
            <a:ext cx="1828800" cy="4572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995160" y="4489704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</a:rPr>
              <a:t>❌ Vendor lock-in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D1B3E"/>
          </a:solidFill>
          <a:ln w="12700">
            <a:solidFill>
              <a:srgbClr val="0D1B3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0"/>
            <a:ext cx="82296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COMPONENTES LÓGICOS DEL SISTEMA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017520" y="1115568"/>
            <a:ext cx="3108960" cy="566928"/>
          </a:xfrm>
          <a:prstGeom prst="rect">
            <a:avLst/>
          </a:prstGeom>
          <a:solidFill>
            <a:srgbClr val="00C9A7"/>
          </a:solidFill>
          <a:ln w="12700">
            <a:solidFill>
              <a:srgbClr val="009E8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3017520" y="1115568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B3E"/>
                </a:solidFill>
              </a:rPr>
              <a:t>API GATEWAY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017520" y="1399032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A2F5E"/>
                </a:solidFill>
              </a:rPr>
              <a:t>JWT · Rate Limit · Routing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74320" y="1901952"/>
            <a:ext cx="16002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74320" y="1901952"/>
            <a:ext cx="1600200" cy="310896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4320" y="1901952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User Service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365760" y="2267712"/>
            <a:ext cx="1417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Auth · RBAC · Perfiles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1074420" y="1682496"/>
            <a:ext cx="0" cy="219456"/>
          </a:xfrm>
          <a:prstGeom prst="line">
            <a:avLst/>
          </a:prstGeom>
          <a:noFill/>
          <a:ln w="19050">
            <a:solidFill>
              <a:srgbClr val="CBD5E1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2057400" y="1901952"/>
            <a:ext cx="16002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057400" y="1901952"/>
            <a:ext cx="1600200" cy="310896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057400" y="1901952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Course Service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2148840" y="2267712"/>
            <a:ext cx="1417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Contenidos · Materiales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2857500" y="1682496"/>
            <a:ext cx="0" cy="219456"/>
          </a:xfrm>
          <a:prstGeom prst="line">
            <a:avLst/>
          </a:prstGeom>
          <a:noFill/>
          <a:ln w="19050">
            <a:solidFill>
              <a:srgbClr val="CBD5E1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3840480" y="1901952"/>
            <a:ext cx="16002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3840480" y="1901952"/>
            <a:ext cx="1600200" cy="310896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840480" y="1901952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Assessment Service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3931920" y="2267712"/>
            <a:ext cx="1417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Evaluaciones · Motor Adaptativo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4640580" y="1682496"/>
            <a:ext cx="0" cy="219456"/>
          </a:xfrm>
          <a:prstGeom prst="line">
            <a:avLst/>
          </a:prstGeom>
          <a:noFill/>
          <a:ln w="19050">
            <a:solidFill>
              <a:srgbClr val="CBD5E1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5623560" y="1901952"/>
            <a:ext cx="16002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5623560" y="1901952"/>
            <a:ext cx="1600200" cy="31089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623560" y="1901952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Collaboration Service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5715000" y="2267712"/>
            <a:ext cx="1417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Foros · Grupos · WebSocket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6423660" y="1682496"/>
            <a:ext cx="0" cy="219456"/>
          </a:xfrm>
          <a:prstGeom prst="line">
            <a:avLst/>
          </a:prstGeom>
          <a:noFill/>
          <a:ln w="19050">
            <a:solidFill>
              <a:srgbClr val="CBD5E1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7360920" y="1901952"/>
            <a:ext cx="16002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7360920" y="1901952"/>
            <a:ext cx="1600200" cy="310896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360920" y="1901952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Analytics Service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7452360" y="2267712"/>
            <a:ext cx="1417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</a:rPr>
              <a:t>Reportes · Dashboards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8161020" y="1682496"/>
            <a:ext cx="0" cy="219456"/>
          </a:xfrm>
          <a:prstGeom prst="line">
            <a:avLst/>
          </a:prstGeom>
          <a:noFill/>
          <a:ln w="19050">
            <a:solidFill>
              <a:srgbClr val="CBD5E1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3017520" y="3520440"/>
            <a:ext cx="3108960" cy="530352"/>
          </a:xfrm>
          <a:prstGeom prst="rect">
            <a:avLst/>
          </a:prstGeom>
          <a:solidFill>
            <a:srgbClr val="1A2F5E"/>
          </a:solidFill>
          <a:ln w="12700">
            <a:solidFill>
              <a:srgbClr val="0D1B3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017520" y="3520440"/>
            <a:ext cx="54864" cy="5303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108960" y="35204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RabbitMQ — Mensajería Asíncrona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3108960" y="379476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BD5E1"/>
                </a:solidFill>
              </a:rPr>
              <a:t>Outbox Pattern · Dead Letter Queue · Decoupling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274320" y="4206240"/>
            <a:ext cx="4023360" cy="6858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274320" y="4206240"/>
            <a:ext cx="54864" cy="68580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20624" y="4233672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D1B3E"/>
                </a:solidFill>
              </a:rPr>
              <a:t>PostgreSQL  ·  Schemas separados por dominio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420624" y="4544568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RDS Multi-AZ · PgBouncer · Read Replica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4846320" y="4206240"/>
            <a:ext cx="4023360" cy="6858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4846320" y="4206240"/>
            <a:ext cx="54864" cy="68580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992624" y="4233672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D1B3E"/>
                </a:solidFill>
              </a:rPr>
              <a:t>Redis (ElastiCache)  ·  Cache-Aside Pattern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4992624" y="4544568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TTL configurable · Cluster Mode · JWT blacklist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B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1A2F5E"/>
          </a:solidFill>
          <a:ln w="12700">
            <a:solidFill>
              <a:srgbClr val="1A2F5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0"/>
            <a:ext cx="82296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STACK TECNOLÓGICO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20040" y="1143000"/>
            <a:ext cx="1600200" cy="41148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0040" y="114300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1B3E"/>
                </a:solidFill>
              </a:rPr>
              <a:t>FRONTEND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320040" y="1554480"/>
            <a:ext cx="1600200" cy="3200400"/>
          </a:xfrm>
          <a:prstGeom prst="rect">
            <a:avLst/>
          </a:prstGeom>
          <a:solidFill>
            <a:srgbClr val="1A2F5E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11480" y="1691640"/>
            <a:ext cx="1417320" cy="731520"/>
          </a:xfrm>
          <a:prstGeom prst="rect">
            <a:avLst/>
          </a:prstGeom>
          <a:solidFill>
            <a:srgbClr val="0D1B3E"/>
          </a:solidFill>
          <a:ln w="12700">
            <a:solidFill>
              <a:srgbClr val="243B5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11480" y="1691640"/>
            <a:ext cx="1417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React.js 18 + TypeScript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11480" y="2651760"/>
            <a:ext cx="1417320" cy="731520"/>
          </a:xfrm>
          <a:prstGeom prst="rect">
            <a:avLst/>
          </a:prstGeom>
          <a:solidFill>
            <a:srgbClr val="0D1B3E"/>
          </a:solidFill>
          <a:ln w="12700">
            <a:solidFill>
              <a:srgbClr val="243B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11480" y="2651760"/>
            <a:ext cx="1417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Redux / Zustand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11480" y="3611880"/>
            <a:ext cx="1417320" cy="731520"/>
          </a:xfrm>
          <a:prstGeom prst="rect">
            <a:avLst/>
          </a:prstGeom>
          <a:solidFill>
            <a:srgbClr val="0D1B3E"/>
          </a:solidFill>
          <a:ln w="12700">
            <a:solidFill>
              <a:srgbClr val="243B5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11480" y="3611880"/>
            <a:ext cx="1417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SPA · S3 + CloudFront CDN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2057400" y="1143000"/>
            <a:ext cx="1600200" cy="411480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057400" y="114300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1B3E"/>
                </a:solidFill>
              </a:rPr>
              <a:t>BACKEND (×5 servicios)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2057400" y="1554480"/>
            <a:ext cx="1600200" cy="3200400"/>
          </a:xfrm>
          <a:prstGeom prst="rect">
            <a:avLst/>
          </a:prstGeom>
          <a:solidFill>
            <a:srgbClr val="1A2F5E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148840" y="1691640"/>
            <a:ext cx="1417320" cy="731520"/>
          </a:xfrm>
          <a:prstGeom prst="rect">
            <a:avLst/>
          </a:prstGeom>
          <a:solidFill>
            <a:srgbClr val="0D1B3E"/>
          </a:solidFill>
          <a:ln w="12700">
            <a:solidFill>
              <a:srgbClr val="243B5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148840" y="1691640"/>
            <a:ext cx="1417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Node.js + Express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2148840" y="2651760"/>
            <a:ext cx="1417320" cy="731520"/>
          </a:xfrm>
          <a:prstGeom prst="rect">
            <a:avLst/>
          </a:prstGeom>
          <a:solidFill>
            <a:srgbClr val="0D1B3E"/>
          </a:solidFill>
          <a:ln w="12700">
            <a:solidFill>
              <a:srgbClr val="243B5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148840" y="2651760"/>
            <a:ext cx="1417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Prisma ORM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2148840" y="3611880"/>
            <a:ext cx="1417320" cy="731520"/>
          </a:xfrm>
          <a:prstGeom prst="rect">
            <a:avLst/>
          </a:prstGeom>
          <a:solidFill>
            <a:srgbClr val="0D1B3E"/>
          </a:solidFill>
          <a:ln w="12700">
            <a:solidFill>
              <a:srgbClr val="243B5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148840" y="3611880"/>
            <a:ext cx="1417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JWT RS256 + RBAC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3794760" y="1143000"/>
            <a:ext cx="1600200" cy="41148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794760" y="114300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1B3E"/>
                </a:solidFill>
              </a:rPr>
              <a:t>BASE DE DATOS &amp; CACHÉ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3794760" y="1554480"/>
            <a:ext cx="1600200" cy="3200400"/>
          </a:xfrm>
          <a:prstGeom prst="rect">
            <a:avLst/>
          </a:prstGeom>
          <a:solidFill>
            <a:srgbClr val="1A2F5E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886200" y="1691640"/>
            <a:ext cx="1417320" cy="731520"/>
          </a:xfrm>
          <a:prstGeom prst="rect">
            <a:avLst/>
          </a:prstGeom>
          <a:solidFill>
            <a:srgbClr val="0D1B3E"/>
          </a:solidFill>
          <a:ln w="12700">
            <a:solidFill>
              <a:srgbClr val="243B5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886200" y="1691640"/>
            <a:ext cx="1417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PostgreSQL 16 Multi-AZ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3886200" y="2651760"/>
            <a:ext cx="1417320" cy="731520"/>
          </a:xfrm>
          <a:prstGeom prst="rect">
            <a:avLst/>
          </a:prstGeom>
          <a:solidFill>
            <a:srgbClr val="0D1B3E"/>
          </a:solidFill>
          <a:ln w="12700">
            <a:solidFill>
              <a:srgbClr val="243B5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886200" y="2651760"/>
            <a:ext cx="1417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Redis 7 (ElastiCache)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3886200" y="3611880"/>
            <a:ext cx="1417320" cy="731520"/>
          </a:xfrm>
          <a:prstGeom prst="rect">
            <a:avLst/>
          </a:prstGeom>
          <a:solidFill>
            <a:srgbClr val="0D1B3E"/>
          </a:solidFill>
          <a:ln w="12700">
            <a:solidFill>
              <a:srgbClr val="243B5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886200" y="3611880"/>
            <a:ext cx="1417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PgBouncer pooling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5532120" y="1143000"/>
            <a:ext cx="1600200" cy="4114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532120" y="114300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1B3E"/>
                </a:solidFill>
              </a:rPr>
              <a:t>MENSAJERÍA &amp; INFRA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532120" y="1554480"/>
            <a:ext cx="1600200" cy="3200400"/>
          </a:xfrm>
          <a:prstGeom prst="rect">
            <a:avLst/>
          </a:prstGeom>
          <a:solidFill>
            <a:srgbClr val="1A2F5E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5623560" y="1691640"/>
            <a:ext cx="1417320" cy="731520"/>
          </a:xfrm>
          <a:prstGeom prst="rect">
            <a:avLst/>
          </a:prstGeom>
          <a:solidFill>
            <a:srgbClr val="0D1B3E"/>
          </a:solidFill>
          <a:ln w="12700">
            <a:solidFill>
              <a:srgbClr val="243B5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623560" y="1691640"/>
            <a:ext cx="1417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RabbitMQ (AWS MQ)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5623560" y="2651760"/>
            <a:ext cx="1417320" cy="731520"/>
          </a:xfrm>
          <a:prstGeom prst="rect">
            <a:avLst/>
          </a:prstGeom>
          <a:solidFill>
            <a:srgbClr val="0D1B3E"/>
          </a:solidFill>
          <a:ln w="12700">
            <a:solidFill>
              <a:srgbClr val="243B5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623560" y="2651760"/>
            <a:ext cx="1417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Terraform IaC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5623560" y="3611880"/>
            <a:ext cx="1417320" cy="731520"/>
          </a:xfrm>
          <a:prstGeom prst="rect">
            <a:avLst/>
          </a:prstGeom>
          <a:solidFill>
            <a:srgbClr val="0D1B3E"/>
          </a:solidFill>
          <a:ln w="12700">
            <a:solidFill>
              <a:srgbClr val="243B5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623560" y="3611880"/>
            <a:ext cx="1417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Docker + ECS Fargate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7269480" y="1143000"/>
            <a:ext cx="1600200" cy="41148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69480" y="114300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1B3E"/>
                </a:solidFill>
              </a:rPr>
              <a:t>OBSERVABILIDAD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7269480" y="1554480"/>
            <a:ext cx="1600200" cy="3200400"/>
          </a:xfrm>
          <a:prstGeom prst="rect">
            <a:avLst/>
          </a:prstGeom>
          <a:solidFill>
            <a:srgbClr val="1A2F5E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7360920" y="1691640"/>
            <a:ext cx="1417320" cy="731520"/>
          </a:xfrm>
          <a:prstGeom prst="rect">
            <a:avLst/>
          </a:prstGeom>
          <a:solidFill>
            <a:srgbClr val="0D1B3E"/>
          </a:solidFill>
          <a:ln w="12700">
            <a:solidFill>
              <a:srgbClr val="243B55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360920" y="1691640"/>
            <a:ext cx="1417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CloudWatch + X-Ray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7360920" y="2651760"/>
            <a:ext cx="1417320" cy="731520"/>
          </a:xfrm>
          <a:prstGeom prst="rect">
            <a:avLst/>
          </a:prstGeom>
          <a:solidFill>
            <a:srgbClr val="0D1B3E"/>
          </a:solidFill>
          <a:ln w="12700">
            <a:solidFill>
              <a:srgbClr val="243B55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360920" y="2651760"/>
            <a:ext cx="1417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Logs JSON estructurados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7360920" y="3611880"/>
            <a:ext cx="1417320" cy="731520"/>
          </a:xfrm>
          <a:prstGeom prst="rect">
            <a:avLst/>
          </a:prstGeom>
          <a:solidFill>
            <a:srgbClr val="0D1B3E"/>
          </a:solidFill>
          <a:ln w="12700">
            <a:solidFill>
              <a:srgbClr val="243B55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360920" y="3611880"/>
            <a:ext cx="1417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GitHub Actions CI/CD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0C9A7">
              <a:alpha val="15000"/>
            </a:srgbClr>
          </a:solidFill>
          <a:ln w="12700">
            <a:solidFill>
              <a:srgbClr val="00C9A7">
                <a:alpha val="40000"/>
              </a:srgbClr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74320" y="4800600"/>
            <a:ext cx="859536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OpenAPI 3.0 · TLS 1.3 · bcrypt · Ley 1581 · Blue-Green Deploy · AWS Multi-AZ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D1B3E"/>
          </a:solidFill>
          <a:ln w="12700">
            <a:solidFill>
              <a:srgbClr val="0D1B3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0"/>
            <a:ext cx="82296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VISTAS 4+1  ·  </a:t>
            </a:r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01 Vista Lógica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111556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</a:rPr>
              <a:t>Organización de dominio en capas de responsabilidad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508760"/>
            <a:ext cx="265176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508760"/>
            <a:ext cx="2651760" cy="347472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508760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Dominio Usuario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75488" y="1920240"/>
            <a:ext cx="2432304" cy="25603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5488" y="1920240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D1B3E"/>
                </a:solidFill>
              </a:rPr>
              <a:t>User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75488" y="2212848"/>
            <a:ext cx="2432304" cy="25603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5488" y="2212848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D1B3E"/>
                </a:solidFill>
              </a:rPr>
              <a:t>Session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75488" y="2505456"/>
            <a:ext cx="2432304" cy="25603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5488" y="2505456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D1B3E"/>
                </a:solidFill>
              </a:rPr>
              <a:t>Role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75488" y="2798064"/>
            <a:ext cx="2432304" cy="25603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5488" y="2798064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D1B3E"/>
                </a:solidFill>
              </a:rPr>
              <a:t>Permission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246120" y="1508760"/>
            <a:ext cx="265176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246120" y="1508760"/>
            <a:ext cx="2651760" cy="347472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246120" y="1508760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Dominio Curso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355848" y="1920240"/>
            <a:ext cx="2432304" cy="25603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355848" y="1920240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D1B3E"/>
                </a:solidFill>
              </a:rPr>
              <a:t>Course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3355848" y="2212848"/>
            <a:ext cx="2432304" cy="25603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355848" y="2212848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D1B3E"/>
                </a:solidFill>
              </a:rPr>
              <a:t>Module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3355848" y="2505456"/>
            <a:ext cx="2432304" cy="25603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355848" y="2505456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D1B3E"/>
                </a:solidFill>
              </a:rPr>
              <a:t>Lesson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3355848" y="2798064"/>
            <a:ext cx="2432304" cy="25603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355848" y="2798064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D1B3E"/>
                </a:solidFill>
              </a:rPr>
              <a:t>ContentURL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6126480" y="1508760"/>
            <a:ext cx="265176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126480" y="1508760"/>
            <a:ext cx="2651760" cy="347472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126480" y="1508760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Dominio Evaluación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236208" y="1920240"/>
            <a:ext cx="2432304" cy="25603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236208" y="1920240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D1B3E"/>
                </a:solidFill>
              </a:rPr>
              <a:t>Quiz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6236208" y="2212848"/>
            <a:ext cx="2432304" cy="25603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236208" y="2212848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D1B3E"/>
                </a:solidFill>
              </a:rPr>
              <a:t>EvaluationAttempt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6236208" y="2505456"/>
            <a:ext cx="2432304" cy="25603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236208" y="2505456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D1B3E"/>
                </a:solidFill>
              </a:rPr>
              <a:t>AdaptationRule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6236208" y="2798064"/>
            <a:ext cx="2432304" cy="25603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236208" y="2798064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D1B3E"/>
                </a:solidFill>
              </a:rPr>
              <a:t>AdaptiveEngine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365760" y="3246120"/>
            <a:ext cx="265176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365760" y="3246120"/>
            <a:ext cx="2651760" cy="34747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3246120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Dominio Colaboración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475488" y="3657600"/>
            <a:ext cx="2432304" cy="25603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75488" y="3657600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D1B3E"/>
                </a:solidFill>
              </a:rPr>
              <a:t>Forum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475488" y="3950208"/>
            <a:ext cx="2432304" cy="25603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75488" y="3950208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D1B3E"/>
                </a:solidFill>
              </a:rPr>
              <a:t>Thread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475488" y="4242816"/>
            <a:ext cx="2432304" cy="25603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75488" y="4242816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D1B3E"/>
                </a:solidFill>
              </a:rPr>
              <a:t>StudyGroup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475488" y="4535424"/>
            <a:ext cx="2432304" cy="25603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5488" y="4535424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D1B3E"/>
                </a:solidFill>
              </a:rPr>
              <a:t>ChatMessage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3246120" y="3246120"/>
            <a:ext cx="265176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Shape 49"/>
          <p:cNvSpPr/>
          <p:nvPr/>
        </p:nvSpPr>
        <p:spPr>
          <a:xfrm>
            <a:off x="3246120" y="3246120"/>
            <a:ext cx="2651760" cy="347472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246120" y="3246120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Dominio Analítica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3355848" y="3657600"/>
            <a:ext cx="2432304" cy="25603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355848" y="3657600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D1B3E"/>
                </a:solidFill>
              </a:rPr>
              <a:t>ProgressRecord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3355848" y="3950208"/>
            <a:ext cx="2432304" cy="25603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355848" y="3950208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D1B3E"/>
                </a:solidFill>
              </a:rPr>
              <a:t>Analytics­Report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3355848" y="4242816"/>
            <a:ext cx="2432304" cy="25603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355848" y="4242816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D1B3E"/>
                </a:solidFill>
              </a:rPr>
              <a:t>Alert</a:t>
            </a:r>
            <a:endParaRPr lang="en-US" sz="950" dirty="0"/>
          </a:p>
        </p:txBody>
      </p:sp>
      <p:sp>
        <p:nvSpPr>
          <p:cNvPr id="59" name="Shape 57"/>
          <p:cNvSpPr/>
          <p:nvPr/>
        </p:nvSpPr>
        <p:spPr>
          <a:xfrm>
            <a:off x="6035040" y="1508760"/>
            <a:ext cx="2743200" cy="1600200"/>
          </a:xfrm>
          <a:prstGeom prst="rect">
            <a:avLst/>
          </a:prstGeom>
          <a:solidFill>
            <a:srgbClr val="F8FAFF"/>
          </a:solidFill>
          <a:ln w="12700">
            <a:solidFill>
              <a:srgbClr val="3B82F6"/>
            </a:solidFill>
            <a:prstDash val="dash"/>
          </a:ln>
        </p:spPr>
      </p:sp>
      <p:sp>
        <p:nvSpPr>
          <p:cNvPr id="60" name="Text 58"/>
          <p:cNvSpPr/>
          <p:nvPr/>
        </p:nvSpPr>
        <p:spPr>
          <a:xfrm>
            <a:off x="6035040" y="1508760"/>
            <a:ext cx="2743200" cy="1600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B82F6"/>
                </a:solidFill>
              </a:rPr>
              <a:t>📎 Ver diagrama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B82F6"/>
                </a:solidFill>
              </a:rPr>
              <a:t>diagramaLogico.svg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D1B3E"/>
          </a:solidFill>
          <a:ln w="12700">
            <a:solidFill>
              <a:srgbClr val="0D1B3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0"/>
            <a:ext cx="82296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VISTAS 4+1  ·  </a:t>
            </a:r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03 Vista de Procesos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365760" y="1115568"/>
            <a:ext cx="402336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65760" y="1115568"/>
            <a:ext cx="4023360" cy="347472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1115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⚡ Síncrono — Camino Crítico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02920" y="1508760"/>
            <a:ext cx="37490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Estudiante → API Gateway → Servicio → Respuesta directa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Optimizado para latencia mínima.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Redis caché en ruta crítica.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754880" y="1115568"/>
            <a:ext cx="402336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15568"/>
            <a:ext cx="4023360" cy="34747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54880" y="1115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1B3E"/>
                </a:solidFill>
              </a:rPr>
              <a:t>🔄 Asíncrono — Procesamiento Secundario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892040" y="1508760"/>
            <a:ext cx="37490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Eventos RabbitMQ → Analytics &amp; Collaboration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Fuera del camino crítico.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No bloquea la respuesta al usuario.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65760" y="2788920"/>
            <a:ext cx="8412480" cy="347472"/>
          </a:xfrm>
          <a:prstGeom prst="rect">
            <a:avLst/>
          </a:prstGeom>
          <a:solidFill>
            <a:srgbClr val="0D1B3E"/>
          </a:solidFill>
          <a:ln w="12700">
            <a:solidFill>
              <a:srgbClr val="0D1B3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78892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C9A7"/>
                </a:solidFill>
              </a:rPr>
              <a:t>Operación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651760" y="2788920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C9A7"/>
                </a:solidFill>
              </a:rPr>
              <a:t>Latencia P95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206240" y="278892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C9A7"/>
                </a:solidFill>
              </a:rPr>
              <a:t>Componente Limitante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492240" y="278892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C9A7"/>
                </a:solidFill>
              </a:rPr>
              <a:t>Táctica de Mitigación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136392"/>
            <a:ext cx="22860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11480" y="3136392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D1B3E"/>
                </a:solidFill>
              </a:rPr>
              <a:t>Login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651760" y="3136392"/>
            <a:ext cx="1554480" cy="384048"/>
          </a:xfrm>
          <a:prstGeom prst="rect">
            <a:avLst/>
          </a:prstGeom>
          <a:solidFill>
            <a:srgbClr val="ECFDF5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651760" y="3136392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66534"/>
                </a:solidFill>
              </a:rPr>
              <a:t>~150ms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206240" y="3136392"/>
            <a:ext cx="22860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279392" y="3136392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</a:rPr>
              <a:t>bcrypt (deliberado)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6492240" y="3136392"/>
            <a:ext cx="22860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565392" y="3136392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</a:rPr>
              <a:t>Rate limiting anti-brute force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365760" y="3520440"/>
            <a:ext cx="2286000" cy="384048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11480" y="352044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D1B3E"/>
                </a:solidFill>
              </a:rPr>
              <a:t>Carga de curso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651760" y="3520440"/>
            <a:ext cx="1554480" cy="384048"/>
          </a:xfrm>
          <a:prstGeom prst="rect">
            <a:avLst/>
          </a:prstGeom>
          <a:solidFill>
            <a:srgbClr val="ECFDF5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651760" y="352044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66534"/>
                </a:solidFill>
              </a:rPr>
              <a:t>~80ms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4206240" y="3520440"/>
            <a:ext cx="2286000" cy="384048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279392" y="352044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</a:rPr>
              <a:t>PostgreSQL + Redis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6492240" y="3520440"/>
            <a:ext cx="2286000" cy="384048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565392" y="352044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</a:rPr>
              <a:t>Redis caché TTL=3600s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365760" y="3904488"/>
            <a:ext cx="22860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11480" y="3904488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D1B3E"/>
                </a:solidFill>
              </a:rPr>
              <a:t>Envío evaluación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2651760" y="3904488"/>
            <a:ext cx="1554480" cy="384048"/>
          </a:xfrm>
          <a:prstGeom prst="rect">
            <a:avLst/>
          </a:prstGeom>
          <a:solidFill>
            <a:srgbClr val="ECFDF5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51760" y="3904488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66534"/>
                </a:solidFill>
              </a:rPr>
              <a:t>~120ms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4206240" y="3904488"/>
            <a:ext cx="22860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279392" y="3904488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</a:rPr>
              <a:t>Assessment Service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6492240" y="3904488"/>
            <a:ext cx="22860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565392" y="3904488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</a:rPr>
              <a:t>Auto-scaling + Redis reglas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365760" y="4288536"/>
            <a:ext cx="2286000" cy="384048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11480" y="4288536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D1B3E"/>
                </a:solidFill>
              </a:rPr>
              <a:t>Dashboard progreso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2651760" y="4288536"/>
            <a:ext cx="1554480" cy="384048"/>
          </a:xfrm>
          <a:prstGeom prst="rect">
            <a:avLst/>
          </a:prstGeom>
          <a:solidFill>
            <a:srgbClr val="ECFDF5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51760" y="4288536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66534"/>
                </a:solidFill>
              </a:rPr>
              <a:t>~200ms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4206240" y="4288536"/>
            <a:ext cx="2286000" cy="384048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279392" y="4288536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</a:rPr>
              <a:t>Analytics queries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6492240" y="4288536"/>
            <a:ext cx="2286000" cy="384048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565392" y="4288536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</a:rPr>
              <a:t>Read replica PostgreSQL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365760" y="4672584"/>
            <a:ext cx="22860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11480" y="4672584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D1B3E"/>
                </a:solidFill>
              </a:rPr>
              <a:t>Post en foro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2651760" y="4672584"/>
            <a:ext cx="1554480" cy="384048"/>
          </a:xfrm>
          <a:prstGeom prst="rect">
            <a:avLst/>
          </a:prstGeom>
          <a:solidFill>
            <a:srgbClr val="ECFDF5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2651760" y="4672584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66534"/>
                </a:solidFill>
              </a:rPr>
              <a:t>~60ms</a:t>
            </a:r>
            <a:endParaRPr lang="en-US" sz="1050" dirty="0"/>
          </a:p>
        </p:txBody>
      </p:sp>
      <p:sp>
        <p:nvSpPr>
          <p:cNvPr id="54" name="Shape 52"/>
          <p:cNvSpPr/>
          <p:nvPr/>
        </p:nvSpPr>
        <p:spPr>
          <a:xfrm>
            <a:off x="4206240" y="4672584"/>
            <a:ext cx="22860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279392" y="4672584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</a:rPr>
              <a:t>PostgreSQL write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6492240" y="4672584"/>
            <a:ext cx="22860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565392" y="4672584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</a:rPr>
              <a:t>PgBouncer pooling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D1B3E"/>
          </a:solidFill>
          <a:ln w="12700">
            <a:solidFill>
              <a:srgbClr val="0D1B3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0"/>
            <a:ext cx="82296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</a:rPr>
              <a:t>VISTAS 4+1  ·  </a:t>
            </a:r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04 Vista Física — Infraestructura AWS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274320" y="1097280"/>
            <a:ext cx="8595360" cy="475488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1097280"/>
            <a:ext cx="85953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B82F6"/>
                </a:solidFill>
              </a:rPr>
              <a:t>INTERNET / USUARIOS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74320" y="1691640"/>
            <a:ext cx="8595360" cy="3246120"/>
          </a:xfrm>
          <a:prstGeom prst="rect">
            <a:avLst/>
          </a:prstGeom>
          <a:solidFill>
            <a:srgbClr val="FFFBEB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0040" y="1691640"/>
            <a:ext cx="2743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59E0B"/>
                </a:solidFill>
              </a:rPr>
              <a:t>AWS VPC — Producción (Multi-AZ)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2011680"/>
            <a:ext cx="169164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7200" y="2011680"/>
            <a:ext cx="1691640" cy="256032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2267712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D1B3E"/>
                </a:solidFill>
              </a:rPr>
              <a:t>CloudFront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0D1B3E"/>
                </a:solidFill>
              </a:rPr>
              <a:t>+ S3 (Frontend)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286000" y="2011680"/>
            <a:ext cx="169164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2286000" y="2011680"/>
            <a:ext cx="1691640" cy="256032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286000" y="2267712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D1B3E"/>
                </a:solidFill>
              </a:rPr>
              <a:t>API Gateway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0D1B3E"/>
                </a:solidFill>
              </a:rPr>
              <a:t>+ Kong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114800" y="2011680"/>
            <a:ext cx="169164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114800" y="2011680"/>
            <a:ext cx="1691640" cy="256032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14800" y="2267712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D1B3E"/>
                </a:solidFill>
              </a:rPr>
              <a:t>ECS Fargate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0D1B3E"/>
                </a:solidFill>
              </a:rPr>
              <a:t>5 Servicios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943600" y="2011680"/>
            <a:ext cx="14173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943600" y="2011680"/>
            <a:ext cx="1417320" cy="25603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2267712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D1B3E"/>
                </a:solidFill>
              </a:rPr>
              <a:t>AWS MQ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0D1B3E"/>
                </a:solidFill>
              </a:rPr>
              <a:t>RabbitMQ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7498080" y="2011680"/>
            <a:ext cx="132588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498080" y="2011680"/>
            <a:ext cx="1325880" cy="256032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498080" y="2267712"/>
            <a:ext cx="1325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D1B3E"/>
                </a:solidFill>
              </a:rPr>
              <a:t>CloudWatch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0D1B3E"/>
                </a:solidFill>
              </a:rPr>
              <a:t>+ X-Ray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57200" y="3017520"/>
            <a:ext cx="3749040" cy="914400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57200" y="3017520"/>
            <a:ext cx="3749040" cy="27432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7200" y="30175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RDS PostgreSQL 16 Multi-AZ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48640" y="3328416"/>
            <a:ext cx="3566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db.t3.large · 100GB SSD · Backups 7d · Failover &lt; 60s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4389120" y="3017520"/>
            <a:ext cx="3108960" cy="914400"/>
          </a:xfrm>
          <a:prstGeom prst="rect">
            <a:avLst/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389120" y="3017520"/>
            <a:ext cx="3108960" cy="274320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89120" y="30175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ElastiCache Redis 7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480560" y="3328416"/>
            <a:ext cx="29260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cache.t3.medium · Cluster Mode · Hit rate &gt; 80%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7680960" y="3017520"/>
            <a:ext cx="1143000" cy="914400"/>
          </a:xfrm>
          <a:prstGeom prst="rect">
            <a:avLst/>
          </a:prstGeom>
          <a:solidFill>
            <a:srgbClr val="FEF9EC"/>
          </a:solidFill>
          <a:ln w="12700">
            <a:solidFill>
              <a:srgbClr val="FDE68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7680960" y="3017520"/>
            <a:ext cx="1143000" cy="2743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680960" y="3017520"/>
            <a:ext cx="1143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1B3E"/>
                </a:solidFill>
              </a:rPr>
              <a:t>S3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D1B3E"/>
                </a:solidFill>
              </a:rPr>
              <a:t>Storage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0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D1B3E"/>
          </a:solidFill>
          <a:ln w="12700">
            <a:solidFill>
              <a:srgbClr val="0D1B3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960120"/>
            <a:ext cx="9144000" cy="54864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0"/>
            <a:ext cx="82296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CUMPLIMIENTO DE ATRIBUTOS DE CALIDAD (ISO 25010)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65760" y="1115568"/>
            <a:ext cx="8412480" cy="329184"/>
          </a:xfrm>
          <a:prstGeom prst="rect">
            <a:avLst/>
          </a:prstGeom>
          <a:solidFill>
            <a:srgbClr val="0D1B3E"/>
          </a:solidFill>
          <a:ln w="12700">
            <a:solidFill>
              <a:srgbClr val="0D1B3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1115568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0C9A7"/>
                </a:solidFill>
              </a:rPr>
              <a:t>Atributo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737360" y="1115568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0C9A7"/>
                </a:solidFill>
              </a:rPr>
              <a:t>Driver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560320" y="1115568"/>
            <a:ext cx="5760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0C9A7"/>
                </a:solidFill>
              </a:rPr>
              <a:t>Tácticas Aplicadas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8321040" y="1115568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0C9A7"/>
                </a:solidFill>
              </a:rPr>
              <a:t>✓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65760" y="1444752"/>
            <a:ext cx="13716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" y="144475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D1B3E"/>
                </a:solidFill>
              </a:rPr>
              <a:t>Performance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1737360" y="1444752"/>
            <a:ext cx="822960" cy="457200"/>
          </a:xfrm>
          <a:prstGeom prst="rect">
            <a:avLst/>
          </a:prstGeom>
          <a:solidFill>
            <a:srgbClr val="EFF6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737360" y="1444752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B82F6"/>
                </a:solidFill>
              </a:rPr>
              <a:t>DR-01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560320" y="1444752"/>
            <a:ext cx="576072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651760" y="1444752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</a:rPr>
              <a:t>Cache-Aside Redis + síncrono ligero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8321040" y="1444752"/>
            <a:ext cx="457200" cy="457200"/>
          </a:xfrm>
          <a:prstGeom prst="rect">
            <a:avLst/>
          </a:prstGeom>
          <a:solidFill>
            <a:srgbClr val="ECFDF5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1040" y="14447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✅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65760" y="1920240"/>
            <a:ext cx="1371600" cy="4572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192024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D1B3E"/>
                </a:solidFill>
              </a:rPr>
              <a:t>Scalability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1737360" y="1920240"/>
            <a:ext cx="822960" cy="457200"/>
          </a:xfrm>
          <a:prstGeom prst="rect">
            <a:avLst/>
          </a:prstGeom>
          <a:solidFill>
            <a:srgbClr val="EFF6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737360" y="192024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B82F6"/>
                </a:solidFill>
              </a:rPr>
              <a:t>DR-02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2560320" y="1920240"/>
            <a:ext cx="5760720" cy="4572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651760" y="1920240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</a:rPr>
              <a:t>Horizontal Scaling ECS + RabbitMQ buffer + Stateless JWT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8321040" y="1920240"/>
            <a:ext cx="457200" cy="457200"/>
          </a:xfrm>
          <a:prstGeom prst="rect">
            <a:avLst/>
          </a:prstGeom>
          <a:solidFill>
            <a:srgbClr val="ECFDF5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321040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✅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365760" y="2395728"/>
            <a:ext cx="13716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239572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D1B3E"/>
                </a:solidFill>
              </a:rPr>
              <a:t>Availability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1737360" y="2395728"/>
            <a:ext cx="822960" cy="457200"/>
          </a:xfrm>
          <a:prstGeom prst="rect">
            <a:avLst/>
          </a:prstGeom>
          <a:solidFill>
            <a:srgbClr val="EFF6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737360" y="2395728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B82F6"/>
                </a:solidFill>
              </a:rPr>
              <a:t>DR-03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2560320" y="2395728"/>
            <a:ext cx="576072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651760" y="2395728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</a:rPr>
              <a:t>Multi-AZ RDS + Fault Isolation + Dead Letter Queue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8321040" y="2395728"/>
            <a:ext cx="457200" cy="457200"/>
          </a:xfrm>
          <a:prstGeom prst="rect">
            <a:avLst/>
          </a:prstGeom>
          <a:solidFill>
            <a:srgbClr val="ECFDF5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321040" y="23957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✅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2871216"/>
            <a:ext cx="1371600" cy="4572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2871216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D1B3E"/>
                </a:solidFill>
              </a:rPr>
              <a:t>Security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1737360" y="2871216"/>
            <a:ext cx="822960" cy="457200"/>
          </a:xfrm>
          <a:prstGeom prst="rect">
            <a:avLst/>
          </a:prstGeom>
          <a:solidFill>
            <a:srgbClr val="EFF6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737360" y="2871216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B82F6"/>
                </a:solidFill>
              </a:rPr>
              <a:t>DR-04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2560320" y="2871216"/>
            <a:ext cx="5760720" cy="4572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51760" y="2871216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</a:rPr>
              <a:t>JWT RS256 + RBAC + TLS 1.3 + AES-256 + Ley 1581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8321040" y="2871216"/>
            <a:ext cx="457200" cy="457200"/>
          </a:xfrm>
          <a:prstGeom prst="rect">
            <a:avLst/>
          </a:prstGeom>
          <a:solidFill>
            <a:srgbClr val="ECFDF5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321040" y="28712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✅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365760" y="3346704"/>
            <a:ext cx="13716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3346704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D1B3E"/>
                </a:solidFill>
              </a:rPr>
              <a:t>Maintainability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1737360" y="3346704"/>
            <a:ext cx="822960" cy="457200"/>
          </a:xfrm>
          <a:prstGeom prst="rect">
            <a:avLst/>
          </a:prstGeom>
          <a:solidFill>
            <a:srgbClr val="EFF6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737360" y="3346704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B82F6"/>
                </a:solidFill>
              </a:rPr>
              <a:t>DR-05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2560320" y="3346704"/>
            <a:ext cx="576072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651760" y="3346704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</a:rPr>
              <a:t>5 servicios independientes + CI/CD Blue-Green + Rules in DB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8321040" y="3346704"/>
            <a:ext cx="457200" cy="457200"/>
          </a:xfrm>
          <a:prstGeom prst="rect">
            <a:avLst/>
          </a:prstGeom>
          <a:solidFill>
            <a:srgbClr val="ECFDF5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321040" y="33467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✅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365760" y="3822192"/>
            <a:ext cx="1371600" cy="4572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65760" y="382219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D1B3E"/>
                </a:solidFill>
              </a:rPr>
              <a:t>Interoperability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1737360" y="3822192"/>
            <a:ext cx="822960" cy="457200"/>
          </a:xfrm>
          <a:prstGeom prst="rect">
            <a:avLst/>
          </a:prstGeom>
          <a:solidFill>
            <a:srgbClr val="EFF6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737360" y="3822192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B82F6"/>
                </a:solidFill>
              </a:rPr>
              <a:t>DR-06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2560320" y="3822192"/>
            <a:ext cx="5760720" cy="4572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651760" y="3822192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</a:rPr>
              <a:t>REST + OpenAPI 3.0 + versionado /api/v1/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8321040" y="3822192"/>
            <a:ext cx="457200" cy="457200"/>
          </a:xfrm>
          <a:prstGeom prst="rect">
            <a:avLst/>
          </a:prstGeom>
          <a:solidFill>
            <a:srgbClr val="ECFDF5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8321040" y="38221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✅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365760" y="4297680"/>
            <a:ext cx="13716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365760" y="429768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D1B3E"/>
                </a:solidFill>
              </a:rPr>
              <a:t>Functional Suit.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1737360" y="4297680"/>
            <a:ext cx="822960" cy="457200"/>
          </a:xfrm>
          <a:prstGeom prst="rect">
            <a:avLst/>
          </a:prstGeom>
          <a:solidFill>
            <a:srgbClr val="EFF6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1737360" y="429768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B82F6"/>
                </a:solidFill>
              </a:rPr>
              <a:t>DR-07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>
            <a:off x="2560320" y="4297680"/>
            <a:ext cx="576072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2651760" y="4297680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</a:rPr>
              <a:t>Rules Engine con AdaptationRule en PostgreSQL</a:t>
            </a:r>
            <a:endParaRPr lang="en-US" sz="950" dirty="0"/>
          </a:p>
        </p:txBody>
      </p:sp>
      <p:sp>
        <p:nvSpPr>
          <p:cNvPr id="64" name="Shape 62"/>
          <p:cNvSpPr/>
          <p:nvPr/>
        </p:nvSpPr>
        <p:spPr>
          <a:xfrm>
            <a:off x="8321040" y="4297680"/>
            <a:ext cx="457200" cy="457200"/>
          </a:xfrm>
          <a:prstGeom prst="rect">
            <a:avLst/>
          </a:prstGeom>
          <a:solidFill>
            <a:srgbClr val="ECFDF5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8321040" y="4297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✅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B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-914400"/>
            <a:ext cx="4572000" cy="4572000"/>
          </a:xfrm>
          <a:prstGeom prst="ellipse">
            <a:avLst/>
          </a:prstGeom>
          <a:solidFill>
            <a:srgbClr val="00C9A7">
              <a:alpha val="12000"/>
            </a:srgbClr>
          </a:solidFill>
          <a:ln w="12700">
            <a:solidFill>
              <a:srgbClr val="00C9A7">
                <a:alpha val="2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00" y="2743200"/>
            <a:ext cx="3657600" cy="3657600"/>
          </a:xfrm>
          <a:prstGeom prst="ellipse">
            <a:avLst/>
          </a:prstGeom>
          <a:solidFill>
            <a:srgbClr val="00C9A7">
              <a:alpha val="12000"/>
            </a:srgbClr>
          </a:solidFill>
          <a:ln w="12700">
            <a:solidFill>
              <a:srgbClr val="00C9A7">
                <a:alpha val="2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4480560"/>
            <a:ext cx="9144000" cy="662940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7315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 que escala con la educación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C9A7"/>
                </a:solidFill>
              </a:rPr>
              <a:t>Service-Based</a:t>
            </a:r>
            <a:pPr algn="ctr" indent="0" marL="0">
              <a:buNone/>
            </a:pPr>
            <a:r>
              <a:rPr lang="en-US" sz="1500" dirty="0">
                <a:solidFill>
                  <a:srgbClr val="CBD5E1"/>
                </a:solidFill>
              </a:rPr>
              <a:t>  ·  Performance ≤ 2s  ·  5.000+ usuarios  ·  </a:t>
            </a:r>
            <a:pPr algn="ctr" indent="0" marL="0">
              <a:buNone/>
            </a:pPr>
            <a:r>
              <a:rPr lang="en-US" sz="1500" b="1" dirty="0">
                <a:solidFill>
                  <a:srgbClr val="00C9A7"/>
                </a:solidFill>
              </a:rPr>
              <a:t>99.5% SLA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1371600" y="2057400"/>
            <a:ext cx="2926080" cy="594360"/>
          </a:xfrm>
          <a:prstGeom prst="rect">
            <a:avLst/>
          </a:prstGeom>
          <a:solidFill>
            <a:srgbClr val="1A2F5E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371600" y="2057400"/>
            <a:ext cx="54864" cy="594360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17904" y="2057400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Motor adaptativo sin deploys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1371600" y="2788920"/>
            <a:ext cx="2926080" cy="594360"/>
          </a:xfrm>
          <a:prstGeom prst="rect">
            <a:avLst/>
          </a:prstGeom>
          <a:solidFill>
            <a:srgbClr val="1A2F5E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71600" y="2788920"/>
            <a:ext cx="54864" cy="594360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517904" y="2788920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CI/CD Blue-Green sin downtime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0" y="2057400"/>
            <a:ext cx="2926080" cy="594360"/>
          </a:xfrm>
          <a:prstGeom prst="rect">
            <a:avLst/>
          </a:prstGeom>
          <a:solidFill>
            <a:srgbClr val="1A2F5E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029200" y="2057400"/>
            <a:ext cx="54864" cy="594360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175504" y="2057400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Cumplimiento Ley 1581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029200" y="2788920"/>
            <a:ext cx="2926080" cy="594360"/>
          </a:xfrm>
          <a:prstGeom prst="rect">
            <a:avLst/>
          </a:prstGeom>
          <a:solidFill>
            <a:srgbClr val="1A2F5E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029200" y="2788920"/>
            <a:ext cx="54864" cy="594360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175504" y="2788920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Extensible hacia microservicios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274320" y="4480560"/>
            <a:ext cx="8595360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1B3E"/>
                </a:solidFill>
              </a:rPr>
              <a:t>Pontificia Universidad Javeriana  ·  Arquitectura de Software  ·  Marzo 2026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Plataforma de Aprendizaje Adaptativo — Arquitectura de Software</dc:title>
  <dc:subject>PptxGenJS Presentation</dc:subject>
  <dc:creator>PptxGenJS</dc:creator>
  <cp:lastModifiedBy>PptxGenJS</cp:lastModifiedBy>
  <cp:revision>1</cp:revision>
  <dcterms:created xsi:type="dcterms:W3CDTF">2026-03-26T03:14:16Z</dcterms:created>
  <dcterms:modified xsi:type="dcterms:W3CDTF">2026-03-26T03:14:16Z</dcterms:modified>
</cp:coreProperties>
</file>